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59" r:id="rId6"/>
    <p:sldId id="263" r:id="rId7"/>
    <p:sldId id="264" r:id="rId8"/>
    <p:sldId id="260" r:id="rId9"/>
    <p:sldId id="261" r:id="rId10"/>
    <p:sldId id="266" r:id="rId11"/>
    <p:sldId id="267" r:id="rId12"/>
    <p:sldId id="268" r:id="rId13"/>
    <p:sldId id="269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Merriweather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9DBABE-8792-49A1-9094-DB03BEE0342F}">
  <a:tblStyle styleId="{D09DBABE-8792-49A1-9094-DB03BEE0342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12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9" name="Google Shape;2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3446"/>
            <a:ext cx="11049000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95275" y="962025"/>
            <a:ext cx="11601450" cy="12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Đánh Giá Chất Lượng Xe Hơi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0" i="0" u="none" strike="noStrike" cap="none">
                <a:solidFill>
                  <a:srgbClr val="475569"/>
                </a:solidFill>
                <a:latin typeface="Merriweather"/>
                <a:ea typeface="Merriweather"/>
                <a:cs typeface="Merriweather"/>
                <a:sym typeface="Merriweather"/>
              </a:rPr>
              <a:t>Ứng Dụng Kỹ Thuật Khai Phá Dữ Liệu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6137671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Hà Nội – 2025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57250" y="3289696"/>
            <a:ext cx="10477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Giảng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viên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hướng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dẫn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Nguyễn Hùng Cường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57250" y="3784996"/>
            <a:ext cx="10477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Lớp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251IS32601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857250" y="4280296"/>
            <a:ext cx="10477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Sinh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viên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thực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hiện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990600" y="472797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095375" y="4727971"/>
            <a:ext cx="10239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Bùi Hải Nam (A46956)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990600" y="514707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095375" y="5147071"/>
            <a:ext cx="10239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Tạ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Văn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Bằng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(A48477)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0262"/>
            <a:ext cx="2547937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100262"/>
            <a:ext cx="2547937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100262"/>
            <a:ext cx="2547937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100262"/>
            <a:ext cx="2547937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07839" y="3138487"/>
            <a:ext cx="207525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Tổng Quan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57250" y="3671887"/>
            <a:ext cx="197643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Lý do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chọn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đề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tài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mục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tiêu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nghiên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cứu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đối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tượng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sử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3641526" y="3138487"/>
            <a:ext cx="207525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Cơ Sở Lý Thuyết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690937" y="4014787"/>
            <a:ext cx="197643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Tổng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quan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về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Khai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phá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dữ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liệu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Cây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quyết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định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Random Forest.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475214" y="3138487"/>
            <a:ext cx="207525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Thực Nghiệm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524625" y="3671887"/>
            <a:ext cx="197643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Mô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tả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dữ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liệu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quá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trình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tiền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xử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lý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kết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quả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chạy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mô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hình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9308901" y="3138487"/>
            <a:ext cx="207525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Kết Luận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358312" y="3671887"/>
            <a:ext cx="197643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Đánh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giá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hiệu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quả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hạn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chế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hướng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phát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triển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trong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tương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lai.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16868" y="24336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21981" y="243363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12818" y="24336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146506" y="243363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Nội Dung Báo Cáo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10668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81125"/>
            <a:ext cx="5286375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381125"/>
            <a:ext cx="5286375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04875" y="2400300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Merriweather"/>
                <a:ea typeface="Merriweather"/>
                <a:cs typeface="Merriweather"/>
                <a:sym typeface="Merriweather"/>
              </a:rPr>
              <a:t>Lý Do Chọn Đề Tài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67500" y="2762250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Mục Tiêu &amp; Đối Tượng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038225" y="28860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143000" y="2886075"/>
            <a:ext cx="44291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Thị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trường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ô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tô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dạng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người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tiêu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dùng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khó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đưa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ra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quyết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định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dựa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trên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nhiều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thông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số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kỹ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thuật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1038225" y="39147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143000" y="3914775"/>
            <a:ext cx="4429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Nhu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cầu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tự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động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hóa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việc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đánh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giá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chất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lượng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xe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cho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các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đại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lý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hệ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thống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gợi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ý.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1038225" y="46386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143000" y="4638675"/>
            <a:ext cx="4429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Sử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bộ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dữ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liệu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chuẩn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"Car Evaluation Data Set"</a:t>
            </a:r>
            <a:r>
              <a:rPr lang="en-US" sz="150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để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áp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các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thuật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toán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học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máy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6800850" y="32480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905625" y="3248025"/>
            <a:ext cx="44291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Mục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tiêu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Xây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dựng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quy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trình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KDD,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tìm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hiểu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sự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phân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bố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dữ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liệu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so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sánh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hiệu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năng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giữa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Decision Tree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Random Forest.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6800850" y="42767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905625" y="4276725"/>
            <a:ext cx="4429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Đối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tượng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Người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mua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xe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tham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khảo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),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Đại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lý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tư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vấn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định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giá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), Sinh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viên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nghiên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cứu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Tổng Quan Đề Tài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571500" y="10668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71500" y="1571625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Bộ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dữ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liệu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gồm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1728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bản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ghi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với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6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thuộc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tính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đầu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vào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và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1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biến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mục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tiêu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graphicFrame>
        <p:nvGraphicFramePr>
          <p:cNvPr id="194" name="Google Shape;194;p19"/>
          <p:cNvGraphicFramePr/>
          <p:nvPr/>
        </p:nvGraphicFramePr>
        <p:xfrm>
          <a:off x="571500" y="2019300"/>
          <a:ext cx="11049000" cy="4791000"/>
        </p:xfrm>
        <a:graphic>
          <a:graphicData uri="http://schemas.openxmlformats.org/drawingml/2006/table">
            <a:tbl>
              <a:tblPr firstRow="1" bandRow="1">
                <a:noFill/>
                <a:tableStyleId>{D09DBABE-8792-49A1-9094-DB03BEE0342F}</a:tableStyleId>
              </a:tblPr>
              <a:tblGrid>
                <a:gridCol w="241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Thuộc tính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Ý nghĩa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Giá trị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Buying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Giá mua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vhigh, high, med, 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Chi phí bảo trì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vhigh, high, med, 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Doors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Số cửa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2, 3, 4, 5more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Persons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Số người chở được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2, 4, more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Lug_boot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Kích thước cốp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small, med, big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Safety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Độ an toàn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low, med, 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Class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Đánh giá (Output)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unacc</a:t>
                      </a:r>
                      <a:r>
                        <a:rPr lang="en-US" sz="1500" b="0" i="0" u="none" strike="noStrike" cap="none" dirty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acc, good, </a:t>
                      </a:r>
                      <a:r>
                        <a:rPr lang="en-US" sz="1500" b="0" i="0" u="none" strike="noStrike" cap="none" dirty="0" err="1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vgood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5" name="Google Shape;195;p19"/>
          <p:cNvSpPr/>
          <p:nvPr/>
        </p:nvSpPr>
        <p:spPr>
          <a:xfrm>
            <a:off x="571500" y="3195637"/>
            <a:ext cx="24186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2990105" y="3195637"/>
            <a:ext cx="38111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6801296" y="3195637"/>
            <a:ext cx="48192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571500" y="3795712"/>
            <a:ext cx="24186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2990105" y="3795712"/>
            <a:ext cx="38111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801296" y="3795712"/>
            <a:ext cx="48192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71500" y="4395787"/>
            <a:ext cx="24186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2990105" y="4395787"/>
            <a:ext cx="38111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801296" y="4395787"/>
            <a:ext cx="48192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71500" y="4995862"/>
            <a:ext cx="24186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2990105" y="4995862"/>
            <a:ext cx="38111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6801296" y="4995862"/>
            <a:ext cx="48192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71500" y="5595937"/>
            <a:ext cx="24186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2990105" y="5595937"/>
            <a:ext cx="38111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6801296" y="5595937"/>
            <a:ext cx="48192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571500" y="6196012"/>
            <a:ext cx="24186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2990105" y="6196012"/>
            <a:ext cx="38111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6801296" y="6196012"/>
            <a:ext cx="48192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571500" y="6796087"/>
            <a:ext cx="24186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2990105" y="6796087"/>
            <a:ext cx="38111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6801296" y="6796087"/>
            <a:ext cx="48192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Mô Tả Dữ Liệu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571500" y="10668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-1619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90725" y="27908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57875" y="27908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25025" y="27908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/>
          <p:nvPr/>
        </p:nvSpPr>
        <p:spPr>
          <a:xfrm>
            <a:off x="590550" y="32670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488632" y="3457575"/>
            <a:ext cx="348043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Tiền Xử Lý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71500" y="3990975"/>
            <a:ext cx="33147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Sử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bộ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dữ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liệu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gồm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1728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bản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ghi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Kiểm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tra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làm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sạch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dữ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liệu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đảm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bảo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không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có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giá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trị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rỗng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(Null).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4355782" y="3457575"/>
            <a:ext cx="348043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Mã Hóa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4438650" y="3990975"/>
            <a:ext cx="33147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Áp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Ordinal Encoding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cho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các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biến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phân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loại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để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bảo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toàn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tính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thứ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bậc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ví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dụ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: low=0, med=1, high=2).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8222932" y="3457575"/>
            <a:ext cx="348043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Phân Chia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305800" y="3990975"/>
            <a:ext cx="33147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Chia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tập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dữ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liệu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theo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tỷ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lệ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75% Train - 25% Test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sử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kỹ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thuật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lấy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mẫu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phân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tầng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(Stratified Sampling).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Phương Pháp Nghiên Cứu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71500" y="10668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Phân Phối Nhãn Dữ Liệu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571500" y="10668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62796"/>
            <a:ext cx="6581775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6883233" y="2048250"/>
            <a:ext cx="4899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Dữ</a:t>
            </a:r>
            <a:r>
              <a:rPr lang="en-US" sz="2100" b="1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100" b="1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liệu</a:t>
            </a:r>
            <a:r>
              <a:rPr lang="en-US" sz="2100" b="1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100" b="1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mất</a:t>
            </a:r>
            <a:r>
              <a:rPr lang="en-US" sz="2100" b="1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100" b="1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cân</a:t>
            </a:r>
            <a:r>
              <a:rPr lang="en-US" sz="2100" b="1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100" b="1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bằng</a:t>
            </a:r>
            <a:r>
              <a:rPr lang="en-US" sz="2100" b="1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100" b="1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nghiêm</a:t>
            </a:r>
            <a:r>
              <a:rPr lang="en-US" sz="2100" b="1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100" b="1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trọng</a:t>
            </a:r>
            <a:endParaRPr sz="2100" b="1" dirty="0">
              <a:solidFill>
                <a:srgbClr val="1E293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" name="Google Shape;180;p18">
            <a:extLst>
              <a:ext uri="{FF2B5EF4-FFF2-40B4-BE49-F238E27FC236}">
                <a16:creationId xmlns:a16="http://schemas.microsoft.com/office/drawing/2014/main" id="{6BFAA405-41EF-11BD-8717-03FA775839D5}"/>
              </a:ext>
            </a:extLst>
          </p:cNvPr>
          <p:cNvSpPr txBox="1"/>
          <p:nvPr/>
        </p:nvSpPr>
        <p:spPr>
          <a:xfrm>
            <a:off x="6905625" y="2529843"/>
            <a:ext cx="5286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Inter" panose="020B0604020202020204" charset="0"/>
                <a:ea typeface="Inter" panose="020B0604020202020204" charset="0"/>
              </a:rPr>
              <a:t>        0(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Unacc</a:t>
            </a:r>
            <a:r>
              <a:rPr lang="en-US" dirty="0">
                <a:latin typeface="Inter" panose="020B0604020202020204" charset="0"/>
                <a:ea typeface="Inter" panose="020B0604020202020204" charset="0"/>
              </a:rPr>
              <a:t>) ~ 70%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9B7517-BBF5-70D7-6A90-82B364D16916}"/>
              </a:ext>
            </a:extLst>
          </p:cNvPr>
          <p:cNvSpPr/>
          <p:nvPr/>
        </p:nvSpPr>
        <p:spPr>
          <a:xfrm>
            <a:off x="6930734" y="2589540"/>
            <a:ext cx="230086" cy="25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180;p18">
            <a:extLst>
              <a:ext uri="{FF2B5EF4-FFF2-40B4-BE49-F238E27FC236}">
                <a16:creationId xmlns:a16="http://schemas.microsoft.com/office/drawing/2014/main" id="{A621C59C-95D6-DDDB-2081-5D54F99443E3}"/>
              </a:ext>
            </a:extLst>
          </p:cNvPr>
          <p:cNvSpPr txBox="1"/>
          <p:nvPr/>
        </p:nvSpPr>
        <p:spPr>
          <a:xfrm>
            <a:off x="6930734" y="3261053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Inter" panose="020B0604020202020204" charset="0"/>
                <a:ea typeface="Inter" panose="020B0604020202020204" charset="0"/>
              </a:rPr>
              <a:t>        1(Acc) ~ 22%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E3A20D-E511-1FBA-FEAB-9185C3E36D17}"/>
              </a:ext>
            </a:extLst>
          </p:cNvPr>
          <p:cNvSpPr/>
          <p:nvPr/>
        </p:nvSpPr>
        <p:spPr>
          <a:xfrm>
            <a:off x="6930734" y="3293918"/>
            <a:ext cx="230086" cy="270164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08B587-076B-C8E7-EED5-07DAB8440476}"/>
              </a:ext>
            </a:extLst>
          </p:cNvPr>
          <p:cNvSpPr/>
          <p:nvPr/>
        </p:nvSpPr>
        <p:spPr>
          <a:xfrm>
            <a:off x="6930734" y="4016334"/>
            <a:ext cx="230086" cy="27016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180;p18">
            <a:extLst>
              <a:ext uri="{FF2B5EF4-FFF2-40B4-BE49-F238E27FC236}">
                <a16:creationId xmlns:a16="http://schemas.microsoft.com/office/drawing/2014/main" id="{A64F8124-9D82-60E9-26AA-E6B3F1A6FDC7}"/>
              </a:ext>
            </a:extLst>
          </p:cNvPr>
          <p:cNvSpPr txBox="1"/>
          <p:nvPr/>
        </p:nvSpPr>
        <p:spPr>
          <a:xfrm>
            <a:off x="6930734" y="3958826"/>
            <a:ext cx="5286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Inter" panose="020B0604020202020204" charset="0"/>
                <a:ea typeface="Inter" panose="020B0604020202020204" charset="0"/>
              </a:rPr>
              <a:t>        2(Good/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VGood</a:t>
            </a:r>
            <a:r>
              <a:rPr lang="en-US" dirty="0">
                <a:latin typeface="Inter" panose="020B0604020202020204" charset="0"/>
                <a:ea typeface="Inter" panose="020B0604020202020204" charset="0"/>
              </a:rPr>
              <a:t>) ~ 8%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8" name="Google Shape;234;p21">
            <a:extLst>
              <a:ext uri="{FF2B5EF4-FFF2-40B4-BE49-F238E27FC236}">
                <a16:creationId xmlns:a16="http://schemas.microsoft.com/office/drawing/2014/main" id="{CECCEAC7-0FBA-4171-7AF1-74F1AF62E8EC}"/>
              </a:ext>
            </a:extLst>
          </p:cNvPr>
          <p:cNvSpPr txBox="1"/>
          <p:nvPr/>
        </p:nvSpPr>
        <p:spPr>
          <a:xfrm>
            <a:off x="7160820" y="4755087"/>
            <a:ext cx="49530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Mô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hình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dễ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bị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thiên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kiến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,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dự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đoán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toàn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bộ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là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“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Unacc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”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để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đạt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độ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chính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xác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200" i="1" dirty="0" err="1">
                <a:latin typeface="Inter" panose="020B0604020202020204" charset="0"/>
                <a:ea typeface="Inter" panose="020B0604020202020204" charset="0"/>
              </a:rPr>
              <a:t>ảo</a:t>
            </a:r>
            <a:r>
              <a:rPr lang="en-US" sz="1200" i="1" dirty="0">
                <a:latin typeface="Inter" panose="020B0604020202020204" charset="0"/>
                <a:ea typeface="Inter" panose="020B0604020202020204" charset="0"/>
              </a:rPr>
              <a:t> </a:t>
            </a:r>
            <a:endParaRPr sz="1200" i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171DAC5-A860-737A-24CC-B0C728CEAE86}"/>
              </a:ext>
            </a:extLst>
          </p:cNvPr>
          <p:cNvSpPr/>
          <p:nvPr/>
        </p:nvSpPr>
        <p:spPr>
          <a:xfrm>
            <a:off x="6581775" y="4808237"/>
            <a:ext cx="498570" cy="48463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perspectiveAbove"/>
              <a:lightRig rig="threePt" dir="t"/>
            </a:scene3d>
          </a:bodyPr>
          <a:lstStyle/>
          <a:p>
            <a:pPr algn="ctr"/>
            <a:endParaRPr lang="en-US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0" name="Google Shape;272;p24">
            <a:extLst>
              <a:ext uri="{FF2B5EF4-FFF2-40B4-BE49-F238E27FC236}">
                <a16:creationId xmlns:a16="http://schemas.microsoft.com/office/drawing/2014/main" id="{7FFDF44F-FAD8-F30E-2A20-556D9930C834}"/>
              </a:ext>
            </a:extLst>
          </p:cNvPr>
          <p:cNvSpPr txBox="1"/>
          <p:nvPr/>
        </p:nvSpPr>
        <p:spPr>
          <a:xfrm>
            <a:off x="6703867" y="262801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1" name="Google Shape;272;p24">
            <a:extLst>
              <a:ext uri="{FF2B5EF4-FFF2-40B4-BE49-F238E27FC236}">
                <a16:creationId xmlns:a16="http://schemas.microsoft.com/office/drawing/2014/main" id="{D50B3A4C-9605-3C6E-611E-22427E802BC4}"/>
              </a:ext>
            </a:extLst>
          </p:cNvPr>
          <p:cNvSpPr txBox="1"/>
          <p:nvPr/>
        </p:nvSpPr>
        <p:spPr>
          <a:xfrm>
            <a:off x="6711252" y="3276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2" name="Google Shape;272;p24">
            <a:extLst>
              <a:ext uri="{FF2B5EF4-FFF2-40B4-BE49-F238E27FC236}">
                <a16:creationId xmlns:a16="http://schemas.microsoft.com/office/drawing/2014/main" id="{B7A4A896-5002-4737-1E32-93B989C14EEA}"/>
              </a:ext>
            </a:extLst>
          </p:cNvPr>
          <p:cNvSpPr txBox="1"/>
          <p:nvPr/>
        </p:nvSpPr>
        <p:spPr>
          <a:xfrm>
            <a:off x="6705068" y="403974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571500" y="571500"/>
            <a:ext cx="520065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dirty="0" err="1">
                <a:latin typeface="Inter" panose="020B0604020202020204" charset="0"/>
                <a:ea typeface="Inter" panose="020B0604020202020204" charset="0"/>
              </a:rPr>
              <a:t>Khám</a:t>
            </a:r>
            <a:r>
              <a:rPr lang="en-US" sz="315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3150" dirty="0" err="1">
                <a:latin typeface="Inter" panose="020B0604020202020204" charset="0"/>
                <a:ea typeface="Inter" panose="020B0604020202020204" charset="0"/>
              </a:rPr>
              <a:t>phá</a:t>
            </a:r>
            <a:r>
              <a:rPr lang="en-US" sz="315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3150" dirty="0" err="1">
                <a:latin typeface="Inter" panose="020B0604020202020204" charset="0"/>
                <a:ea typeface="Inter" panose="020B0604020202020204" charset="0"/>
              </a:rPr>
              <a:t>dữ</a:t>
            </a:r>
            <a:r>
              <a:rPr lang="en-US" sz="315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3150" dirty="0" err="1">
                <a:latin typeface="Inter" panose="020B0604020202020204" charset="0"/>
                <a:ea typeface="Inter" panose="020B0604020202020204" charset="0"/>
              </a:rPr>
              <a:t>liệu</a:t>
            </a:r>
            <a:r>
              <a:rPr lang="en-US" sz="3150" dirty="0">
                <a:latin typeface="Inter" panose="020B0604020202020204" charset="0"/>
                <a:ea typeface="Inter" panose="020B0604020202020204" charset="0"/>
              </a:rPr>
              <a:t> (EDA) - Những </a:t>
            </a:r>
            <a:r>
              <a:rPr lang="en-US" sz="3150" dirty="0" err="1">
                <a:latin typeface="Inter" panose="020B0604020202020204" charset="0"/>
                <a:ea typeface="Inter" panose="020B0604020202020204" charset="0"/>
              </a:rPr>
              <a:t>phát</a:t>
            </a:r>
            <a:r>
              <a:rPr lang="en-US" sz="315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3150" dirty="0" err="1">
                <a:latin typeface="Inter" panose="020B0604020202020204" charset="0"/>
                <a:ea typeface="Inter" panose="020B0604020202020204" charset="0"/>
              </a:rPr>
              <a:t>hiện</a:t>
            </a:r>
            <a:r>
              <a:rPr lang="en-US" sz="315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3150" dirty="0" err="1">
                <a:latin typeface="Inter" panose="020B0604020202020204" charset="0"/>
                <a:ea typeface="Inter" panose="020B0604020202020204" charset="0"/>
              </a:rPr>
              <a:t>chính</a:t>
            </a:r>
            <a:endParaRPr lang="en-US" sz="315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627165" y="2213282"/>
            <a:ext cx="37523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Merriweather"/>
                <a:sym typeface="Merriweather"/>
              </a:rPr>
              <a:t>An </a:t>
            </a:r>
            <a:r>
              <a:rPr lang="en-US" sz="1800" b="1" dirty="0" err="1">
                <a:solidFill>
                  <a:schemeClr val="tx1"/>
                </a:solidFill>
                <a:latin typeface="Merriweather"/>
                <a:sym typeface="Merriweather"/>
              </a:rPr>
              <a:t>toàn</a:t>
            </a:r>
            <a:r>
              <a:rPr lang="en-US" sz="1800" b="1" dirty="0">
                <a:solidFill>
                  <a:schemeClr val="tx1"/>
                </a:solidFill>
                <a:latin typeface="Merriweather"/>
                <a:sym typeface="Merriweather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Merriweather"/>
                <a:sym typeface="Merriweather"/>
              </a:rPr>
              <a:t>là</a:t>
            </a:r>
            <a:r>
              <a:rPr lang="en-US" sz="1800" b="1" dirty="0">
                <a:solidFill>
                  <a:schemeClr val="tx1"/>
                </a:solidFill>
                <a:latin typeface="Merriweather"/>
                <a:sym typeface="Merriweather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Merriweather"/>
                <a:sym typeface="Merriweather"/>
              </a:rPr>
              <a:t>yếu</a:t>
            </a:r>
            <a:r>
              <a:rPr lang="en-US" sz="1800" b="1" dirty="0">
                <a:solidFill>
                  <a:schemeClr val="tx1"/>
                </a:solidFill>
                <a:latin typeface="Merriweather"/>
                <a:sym typeface="Merriweather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Merriweather"/>
                <a:sym typeface="Merriweather"/>
              </a:rPr>
              <a:t>tố</a:t>
            </a:r>
            <a:r>
              <a:rPr lang="en-US" sz="1800" b="1" dirty="0">
                <a:solidFill>
                  <a:schemeClr val="tx1"/>
                </a:solidFill>
                <a:latin typeface="Merriweather"/>
                <a:sym typeface="Merriweather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Merriweather"/>
                <a:sym typeface="Merriweather"/>
              </a:rPr>
              <a:t>quyết</a:t>
            </a:r>
            <a:r>
              <a:rPr lang="en-US" sz="1800" b="1" dirty="0">
                <a:solidFill>
                  <a:schemeClr val="tx1"/>
                </a:solidFill>
                <a:latin typeface="Merriweather"/>
                <a:sym typeface="Merriweather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Merriweather"/>
                <a:sym typeface="Merriweather"/>
              </a:rPr>
              <a:t>định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357000" y="4917042"/>
            <a:ext cx="3635194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Xe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có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độ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an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toàn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thấp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(</a:t>
            </a:r>
            <a:r>
              <a:rPr lang="en-US" sz="1600" i="1" dirty="0">
                <a:latin typeface="Inter" panose="020B0604020202020204" charset="0"/>
                <a:ea typeface="Inter" panose="020B0604020202020204" charset="0"/>
              </a:rPr>
              <a:t>Safety = Low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) 100%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bị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đánh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giá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là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không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chấp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nhận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(</a:t>
            </a:r>
            <a:r>
              <a:rPr lang="en-US" sz="1600" i="1" dirty="0" err="1">
                <a:latin typeface="Inter" panose="020B0604020202020204" charset="0"/>
                <a:ea typeface="Inter" panose="020B0604020202020204" charset="0"/>
              </a:rPr>
              <a:t>unacc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)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B11AD3-0EE6-00AC-2C6D-E0EA06349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14613"/>
            <a:ext cx="2980412" cy="2180034"/>
          </a:xfrm>
          <a:prstGeom prst="rect">
            <a:avLst/>
          </a:prstGeom>
        </p:spPr>
      </p:pic>
      <p:sp>
        <p:nvSpPr>
          <p:cNvPr id="4" name="Google Shape;233;p21">
            <a:extLst>
              <a:ext uri="{FF2B5EF4-FFF2-40B4-BE49-F238E27FC236}">
                <a16:creationId xmlns:a16="http://schemas.microsoft.com/office/drawing/2014/main" id="{287223B5-2601-F3AD-3046-45C8AFD7B798}"/>
              </a:ext>
            </a:extLst>
          </p:cNvPr>
          <p:cNvSpPr txBox="1"/>
          <p:nvPr/>
        </p:nvSpPr>
        <p:spPr>
          <a:xfrm>
            <a:off x="4347670" y="2213281"/>
            <a:ext cx="37523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Inter" panose="020B0604020202020204" charset="0"/>
                <a:ea typeface="Inter" panose="020B0604020202020204" charset="0"/>
              </a:rPr>
              <a:t>Mối</a:t>
            </a:r>
            <a:r>
              <a:rPr lang="en-US" sz="1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800" dirty="0" err="1">
                <a:latin typeface="Inter" panose="020B0604020202020204" charset="0"/>
                <a:ea typeface="Inter" panose="020B0604020202020204" charset="0"/>
              </a:rPr>
              <a:t>quan</a:t>
            </a:r>
            <a:r>
              <a:rPr lang="en-US" sz="1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800" dirty="0" err="1">
                <a:latin typeface="Inter" panose="020B0604020202020204" charset="0"/>
                <a:ea typeface="Inter" panose="020B0604020202020204" charset="0"/>
              </a:rPr>
              <a:t>hệ</a:t>
            </a:r>
            <a:r>
              <a:rPr lang="en-US" sz="1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800" dirty="0" err="1">
                <a:latin typeface="Inter" panose="020B0604020202020204" charset="0"/>
                <a:ea typeface="Inter" panose="020B0604020202020204" charset="0"/>
              </a:rPr>
              <a:t>Giá</a:t>
            </a:r>
            <a:r>
              <a:rPr lang="en-US" sz="1800" dirty="0">
                <a:latin typeface="Inter" panose="020B0604020202020204" charset="0"/>
                <a:ea typeface="Inter" panose="020B0604020202020204" charset="0"/>
              </a:rPr>
              <a:t> – </a:t>
            </a:r>
            <a:r>
              <a:rPr lang="en-US" sz="1800" dirty="0" err="1">
                <a:latin typeface="Inter" panose="020B0604020202020204" charset="0"/>
                <a:ea typeface="Inter" panose="020B0604020202020204" charset="0"/>
              </a:rPr>
              <a:t>Chất</a:t>
            </a:r>
            <a:r>
              <a:rPr lang="en-US" sz="18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800" dirty="0" err="1">
                <a:latin typeface="Inter" panose="020B0604020202020204" charset="0"/>
                <a:ea typeface="Inter" panose="020B0604020202020204" charset="0"/>
              </a:rPr>
              <a:t>lượng</a:t>
            </a:r>
            <a:endParaRPr sz="1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" name="Google Shape;233;p21">
            <a:extLst>
              <a:ext uri="{FF2B5EF4-FFF2-40B4-BE49-F238E27FC236}">
                <a16:creationId xmlns:a16="http://schemas.microsoft.com/office/drawing/2014/main" id="{E1E2465F-26AE-D53E-796E-4339113D39D0}"/>
              </a:ext>
            </a:extLst>
          </p:cNvPr>
          <p:cNvSpPr txBox="1"/>
          <p:nvPr/>
        </p:nvSpPr>
        <p:spPr>
          <a:xfrm>
            <a:off x="8270596" y="2213280"/>
            <a:ext cx="37523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800" b="1" dirty="0" err="1">
                <a:latin typeface="Inter" panose="020B0604020202020204" charset="0"/>
                <a:ea typeface="Inter" panose="020B0604020202020204" charset="0"/>
              </a:rPr>
              <a:t>Biểu</a:t>
            </a:r>
            <a:r>
              <a:rPr lang="en-US" sz="1800" b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800" b="1" dirty="0" err="1">
                <a:latin typeface="Inter" panose="020B0604020202020204" charset="0"/>
                <a:ea typeface="Inter" panose="020B0604020202020204" charset="0"/>
              </a:rPr>
              <a:t>đồ</a:t>
            </a:r>
            <a:r>
              <a:rPr lang="en-US" sz="1800" b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800" b="1" dirty="0" err="1">
                <a:latin typeface="Inter" panose="020B0604020202020204" charset="0"/>
                <a:ea typeface="Inter" panose="020B0604020202020204" charset="0"/>
              </a:rPr>
              <a:t>nhiệt</a:t>
            </a:r>
            <a:r>
              <a:rPr lang="en-US" sz="1800" b="1" dirty="0">
                <a:latin typeface="Inter" panose="020B0604020202020204" charset="0"/>
                <a:ea typeface="Inter" panose="020B0604020202020204" charset="0"/>
              </a:rPr>
              <a:t> (Heatmap):</a:t>
            </a:r>
            <a:r>
              <a:rPr lang="en-US" sz="1800" dirty="0">
                <a:latin typeface="Inter" panose="020B0604020202020204" charset="0"/>
                <a:ea typeface="Inter" panose="020B0604020202020204" charset="0"/>
              </a:rPr>
              <a:t> </a:t>
            </a:r>
            <a:endParaRPr sz="18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84940B-D2B0-BD0C-272E-62D85E0827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495" y="2549368"/>
            <a:ext cx="3081577" cy="2245279"/>
          </a:xfrm>
          <a:prstGeom prst="rect">
            <a:avLst/>
          </a:prstGeom>
        </p:spPr>
      </p:pic>
      <p:sp>
        <p:nvSpPr>
          <p:cNvPr id="10" name="Google Shape;234;p21">
            <a:extLst>
              <a:ext uri="{FF2B5EF4-FFF2-40B4-BE49-F238E27FC236}">
                <a16:creationId xmlns:a16="http://schemas.microsoft.com/office/drawing/2014/main" id="{FE4E54BF-34A7-404A-150D-245609F98A64}"/>
              </a:ext>
            </a:extLst>
          </p:cNvPr>
          <p:cNvSpPr txBox="1"/>
          <p:nvPr/>
        </p:nvSpPr>
        <p:spPr>
          <a:xfrm>
            <a:off x="4347670" y="4917042"/>
            <a:ext cx="3635194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vi-VN" sz="1600" dirty="0">
                <a:latin typeface="Inter" panose="020B0604020202020204" charset="0"/>
                <a:ea typeface="Inter" panose="020B0604020202020204" charset="0"/>
              </a:rPr>
              <a:t>Người mua khắt khe hơn với xe giá cao (</a:t>
            </a:r>
            <a:r>
              <a:rPr lang="vi-VN" sz="1600" i="1" dirty="0">
                <a:latin typeface="Inter" panose="020B0604020202020204" charset="0"/>
                <a:ea typeface="Inter" panose="020B0604020202020204" charset="0"/>
              </a:rPr>
              <a:t>Vhigh</a:t>
            </a:r>
            <a:r>
              <a:rPr lang="vi-VN" sz="1600" dirty="0">
                <a:latin typeface="Inter" panose="020B0604020202020204" charset="0"/>
                <a:ea typeface="Inter" panose="020B0604020202020204" charset="0"/>
              </a:rPr>
              <a:t>). Xe giá thấp (</a:t>
            </a:r>
            <a:r>
              <a:rPr lang="vi-VN" sz="1600" i="1" dirty="0">
                <a:latin typeface="Inter" panose="020B0604020202020204" charset="0"/>
                <a:ea typeface="Inter" panose="020B0604020202020204" charset="0"/>
              </a:rPr>
              <a:t>Low</a:t>
            </a:r>
            <a:r>
              <a:rPr lang="vi-VN" sz="1600" dirty="0">
                <a:latin typeface="Inter" panose="020B0604020202020204" charset="0"/>
                <a:ea typeface="Inter" panose="020B0604020202020204" charset="0"/>
              </a:rPr>
              <a:t>) có tỷ lệ được đánh giá tốt cao hơn</a:t>
            </a:r>
            <a:endParaRPr sz="16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40BB59-1949-F5A2-9C00-8713242E47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666" y="2478314"/>
            <a:ext cx="3345262" cy="2316333"/>
          </a:xfrm>
          <a:prstGeom prst="rect">
            <a:avLst/>
          </a:prstGeom>
        </p:spPr>
      </p:pic>
      <p:sp>
        <p:nvSpPr>
          <p:cNvPr id="13" name="Google Shape;234;p21">
            <a:extLst>
              <a:ext uri="{FF2B5EF4-FFF2-40B4-BE49-F238E27FC236}">
                <a16:creationId xmlns:a16="http://schemas.microsoft.com/office/drawing/2014/main" id="{8E3F0CCE-7A4D-E6D6-1CB2-ABB6B4F2374B}"/>
              </a:ext>
            </a:extLst>
          </p:cNvPr>
          <p:cNvSpPr txBox="1"/>
          <p:nvPr/>
        </p:nvSpPr>
        <p:spPr>
          <a:xfrm>
            <a:off x="8270596" y="4917042"/>
            <a:ext cx="3635194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vi-VN" sz="1600" dirty="0">
                <a:latin typeface="Inter" panose="020B0604020202020204" charset="0"/>
                <a:ea typeface="Inter" panose="020B0604020202020204" charset="0"/>
              </a:rPr>
              <a:t>Tương quan mạnh nhất nằm ở cặp thuộc tính </a:t>
            </a:r>
            <a:r>
              <a:rPr lang="vi-VN" sz="1600" i="1" dirty="0">
                <a:latin typeface="Inter" panose="020B0604020202020204" charset="0"/>
                <a:ea typeface="Inter" panose="020B0604020202020204" charset="0"/>
              </a:rPr>
              <a:t>Safety</a:t>
            </a:r>
            <a:r>
              <a:rPr lang="vi-VN" sz="1600" dirty="0">
                <a:latin typeface="Inter" panose="020B0604020202020204" charset="0"/>
                <a:ea typeface="Inter" panose="020B0604020202020204" charset="0"/>
              </a:rPr>
              <a:t> và </a:t>
            </a:r>
            <a:r>
              <a:rPr lang="vi-VN" sz="1600" i="1" dirty="0">
                <a:latin typeface="Inter" panose="020B0604020202020204" charset="0"/>
                <a:ea typeface="Inter" panose="020B0604020202020204" charset="0"/>
              </a:rPr>
              <a:t>Persons</a:t>
            </a:r>
            <a:r>
              <a:rPr lang="vi-VN" sz="1600" dirty="0">
                <a:latin typeface="Inter" panose="020B0604020202020204" charset="0"/>
                <a:ea typeface="Inter" panose="020B0604020202020204" charset="0"/>
              </a:rPr>
              <a:t> đối với biến mục tiêu.</a:t>
            </a:r>
            <a:endParaRPr sz="16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" name="Google Shape;272;p24">
            <a:extLst>
              <a:ext uri="{FF2B5EF4-FFF2-40B4-BE49-F238E27FC236}">
                <a16:creationId xmlns:a16="http://schemas.microsoft.com/office/drawing/2014/main" id="{05C63150-5E5C-A440-F406-18F8E2919AEC}"/>
              </a:ext>
            </a:extLst>
          </p:cNvPr>
          <p:cNvSpPr txBox="1"/>
          <p:nvPr/>
        </p:nvSpPr>
        <p:spPr>
          <a:xfrm>
            <a:off x="181435" y="502419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5" name="Google Shape;272;p24">
            <a:extLst>
              <a:ext uri="{FF2B5EF4-FFF2-40B4-BE49-F238E27FC236}">
                <a16:creationId xmlns:a16="http://schemas.microsoft.com/office/drawing/2014/main" id="{69438A9E-24D8-F1AD-9FC7-5D516B4EF95D}"/>
              </a:ext>
            </a:extLst>
          </p:cNvPr>
          <p:cNvSpPr txBox="1"/>
          <p:nvPr/>
        </p:nvSpPr>
        <p:spPr>
          <a:xfrm>
            <a:off x="4175151" y="502419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6" name="Google Shape;272;p24">
            <a:extLst>
              <a:ext uri="{FF2B5EF4-FFF2-40B4-BE49-F238E27FC236}">
                <a16:creationId xmlns:a16="http://schemas.microsoft.com/office/drawing/2014/main" id="{1A18FBC3-3F61-7A9A-6817-912A42EA7C26}"/>
              </a:ext>
            </a:extLst>
          </p:cNvPr>
          <p:cNvSpPr txBox="1"/>
          <p:nvPr/>
        </p:nvSpPr>
        <p:spPr>
          <a:xfrm>
            <a:off x="8165821" y="5020883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764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71499" y="1955624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Thuật</a:t>
            </a:r>
            <a:r>
              <a:rPr lang="en-US" sz="21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100" b="1" i="0" u="none" strike="noStrike" cap="none" dirty="0" err="1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Toán</a:t>
            </a:r>
            <a:r>
              <a:rPr lang="en-US" sz="21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 C4.5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571499" y="2669798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Có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sự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nhầm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lẫn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đáng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kể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giữa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các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lớp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lân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cận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(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ví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dụ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: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giữa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i="1" dirty="0">
                <a:latin typeface="Inter" panose="020B0604020202020204" charset="0"/>
                <a:ea typeface="Inter" panose="020B0604020202020204" charset="0"/>
              </a:rPr>
              <a:t>acc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và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i="1" dirty="0">
                <a:latin typeface="Inter" panose="020B0604020202020204" charset="0"/>
                <a:ea typeface="Inter" panose="020B0604020202020204" charset="0"/>
              </a:rPr>
              <a:t>good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)</a:t>
            </a:r>
            <a:endParaRPr sz="15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571499" y="3692174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latin typeface="Inter" panose="020B0604020202020204" charset="0"/>
                <a:ea typeface="Inter" panose="020B0604020202020204" charset="0"/>
              </a:rPr>
              <a:t>Nguyên </a:t>
            </a:r>
            <a:r>
              <a:rPr lang="en-US" sz="1500" b="1" dirty="0" err="1">
                <a:latin typeface="Inter" panose="020B0604020202020204" charset="0"/>
                <a:ea typeface="Inter" panose="020B0604020202020204" charset="0"/>
              </a:rPr>
              <a:t>nhân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: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Mô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hình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tạo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ra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ranh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giới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cứng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nhắc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và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dễ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bị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nhiễu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.</a:t>
            </a:r>
            <a:endParaRPr sz="15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571499" y="4716410"/>
            <a:ext cx="528637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latin typeface="Inter" panose="020B0604020202020204" charset="0"/>
                <a:ea typeface="Inter" panose="020B0604020202020204" charset="0"/>
              </a:rPr>
              <a:t>Đánh</a:t>
            </a:r>
            <a:r>
              <a:rPr lang="en-US" sz="1600" b="1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b="1" dirty="0" err="1">
                <a:latin typeface="Inter" panose="020B0604020202020204" charset="0"/>
                <a:ea typeface="Inter" panose="020B0604020202020204" charset="0"/>
              </a:rPr>
              <a:t>giá</a:t>
            </a:r>
            <a:r>
              <a:rPr lang="en-US" sz="1600" b="1" dirty="0">
                <a:latin typeface="Inter" panose="020B0604020202020204" charset="0"/>
                <a:ea typeface="Inter" panose="020B0604020202020204" charset="0"/>
              </a:rPr>
              <a:t>: 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Hiệu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năng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ở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mức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trung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bình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,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độ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chính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xác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bị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ảnh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hưởng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bởi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dữ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liệu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mất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cân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600" dirty="0" err="1">
                <a:latin typeface="Inter" panose="020B0604020202020204" charset="0"/>
                <a:ea typeface="Inter" panose="020B0604020202020204" charset="0"/>
              </a:rPr>
              <a:t>bằng</a:t>
            </a:r>
            <a:endParaRPr sz="16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Mô Hình Cây Quyết Định (Decision Tree)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71500" y="10668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29FE3-FD4A-DE26-A156-94A284BDD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868" y="1888926"/>
            <a:ext cx="5101632" cy="4052919"/>
          </a:xfrm>
          <a:prstGeom prst="rect">
            <a:avLst/>
          </a:prstGeom>
        </p:spPr>
      </p:pic>
      <p:sp>
        <p:nvSpPr>
          <p:cNvPr id="4" name="Google Shape;272;p24">
            <a:extLst>
              <a:ext uri="{FF2B5EF4-FFF2-40B4-BE49-F238E27FC236}">
                <a16:creationId xmlns:a16="http://schemas.microsoft.com/office/drawing/2014/main" id="{9CED6AD0-8522-F21C-509A-71A66418BF4B}"/>
              </a:ext>
            </a:extLst>
          </p:cNvPr>
          <p:cNvSpPr txBox="1"/>
          <p:nvPr/>
        </p:nvSpPr>
        <p:spPr>
          <a:xfrm>
            <a:off x="363833" y="27955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5" name="Google Shape;272;p24">
            <a:extLst>
              <a:ext uri="{FF2B5EF4-FFF2-40B4-BE49-F238E27FC236}">
                <a16:creationId xmlns:a16="http://schemas.microsoft.com/office/drawing/2014/main" id="{87848516-EF86-D4AB-7C93-E2BD297289C7}"/>
              </a:ext>
            </a:extLst>
          </p:cNvPr>
          <p:cNvSpPr txBox="1"/>
          <p:nvPr/>
        </p:nvSpPr>
        <p:spPr>
          <a:xfrm>
            <a:off x="360758" y="376298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6" name="Google Shape;272;p24">
            <a:extLst>
              <a:ext uri="{FF2B5EF4-FFF2-40B4-BE49-F238E27FC236}">
                <a16:creationId xmlns:a16="http://schemas.microsoft.com/office/drawing/2014/main" id="{B591A332-98FF-281D-9FF8-E8359750121A}"/>
              </a:ext>
            </a:extLst>
          </p:cNvPr>
          <p:cNvSpPr txBox="1"/>
          <p:nvPr/>
        </p:nvSpPr>
        <p:spPr>
          <a:xfrm>
            <a:off x="382017" y="4826793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764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545307" y="1701998"/>
            <a:ext cx="55506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Ma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trận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nhầm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lẫn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:</a:t>
            </a:r>
            <a:endParaRPr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45307" y="2124075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Đường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chéo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chính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đậm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hơn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rõ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rệt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,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sai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số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(False Positive/Negative)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giảm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mạnh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.</a:t>
            </a:r>
            <a:endParaRPr sz="15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431008" y="4519374"/>
            <a:ext cx="49710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Khắc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phục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được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điểm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yếu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Overfitting</a:t>
            </a:r>
            <a:endParaRPr sz="15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Mô Hình Rừng Ngẫu Nhiên (Random Forest)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571500" y="10668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79;p18">
            <a:extLst>
              <a:ext uri="{FF2B5EF4-FFF2-40B4-BE49-F238E27FC236}">
                <a16:creationId xmlns:a16="http://schemas.microsoft.com/office/drawing/2014/main" id="{AE22CE42-D0BB-4A21-344C-B2D572F22C08}"/>
              </a:ext>
            </a:extLst>
          </p:cNvPr>
          <p:cNvSpPr txBox="1"/>
          <p:nvPr/>
        </p:nvSpPr>
        <p:spPr>
          <a:xfrm>
            <a:off x="545305" y="3121223"/>
            <a:ext cx="55506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Cải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thiện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:</a:t>
            </a:r>
            <a:endParaRPr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6" name="Google Shape;180;p18">
            <a:extLst>
              <a:ext uri="{FF2B5EF4-FFF2-40B4-BE49-F238E27FC236}">
                <a16:creationId xmlns:a16="http://schemas.microsoft.com/office/drawing/2014/main" id="{8C6D5624-C1AA-C02E-BAF1-9C189389927A}"/>
              </a:ext>
            </a:extLst>
          </p:cNvPr>
          <p:cNvSpPr txBox="1"/>
          <p:nvPr/>
        </p:nvSpPr>
        <p:spPr>
          <a:xfrm>
            <a:off x="571501" y="3604855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vi-VN" sz="1500" dirty="0">
                <a:latin typeface="Inter" panose="020B0604020202020204" charset="0"/>
                <a:ea typeface="Inter" panose="020B0604020202020204" charset="0"/>
              </a:rPr>
              <a:t>Khả năng dự đoán đúng các lớp thiểu số tốt hơn nhờ tổng hợp ý kiến từ 100 cây con.</a:t>
            </a:r>
            <a:endParaRPr sz="15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7FE09C-8203-20D5-C65F-AECB136EF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056" y="1347091"/>
            <a:ext cx="5657990" cy="4439346"/>
          </a:xfrm>
          <a:prstGeom prst="rect">
            <a:avLst/>
          </a:prstGeom>
        </p:spPr>
      </p:pic>
      <p:sp>
        <p:nvSpPr>
          <p:cNvPr id="9" name="Google Shape;272;p24">
            <a:extLst>
              <a:ext uri="{FF2B5EF4-FFF2-40B4-BE49-F238E27FC236}">
                <a16:creationId xmlns:a16="http://schemas.microsoft.com/office/drawing/2014/main" id="{A5342F2F-EB3C-E6CA-63B1-83912278BAE4}"/>
              </a:ext>
            </a:extLst>
          </p:cNvPr>
          <p:cNvSpPr txBox="1"/>
          <p:nvPr/>
        </p:nvSpPr>
        <p:spPr>
          <a:xfrm>
            <a:off x="326233" y="37290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0" name="Google Shape;272;p24">
            <a:extLst>
              <a:ext uri="{FF2B5EF4-FFF2-40B4-BE49-F238E27FC236}">
                <a16:creationId xmlns:a16="http://schemas.microsoft.com/office/drawing/2014/main" id="{C0C41238-EF2E-8C3E-6011-4BDFDB05F33B}"/>
              </a:ext>
            </a:extLst>
          </p:cNvPr>
          <p:cNvSpPr txBox="1"/>
          <p:nvPr/>
        </p:nvSpPr>
        <p:spPr>
          <a:xfrm>
            <a:off x="326233" y="4583906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1" name="Google Shape;272;p24">
            <a:extLst>
              <a:ext uri="{FF2B5EF4-FFF2-40B4-BE49-F238E27FC236}">
                <a16:creationId xmlns:a16="http://schemas.microsoft.com/office/drawing/2014/main" id="{4602428F-F4B5-C06C-165D-1AA4F7205DC3}"/>
              </a:ext>
            </a:extLst>
          </p:cNvPr>
          <p:cNvSpPr txBox="1"/>
          <p:nvPr/>
        </p:nvSpPr>
        <p:spPr>
          <a:xfrm>
            <a:off x="326233" y="218930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13098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602168" y="2014507"/>
            <a:ext cx="499019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60000"/>
              </a:lnSpc>
            </a:pPr>
            <a:r>
              <a:rPr lang="vi-VN" sz="1500" b="1" dirty="0">
                <a:latin typeface="Inter" panose="020B0604020202020204" charset="0"/>
                <a:ea typeface="Inter" panose="020B0604020202020204" charset="0"/>
              </a:rPr>
              <a:t>Random Forest vượt trội</a:t>
            </a:r>
            <a:r>
              <a:rPr lang="vi-VN" sz="1500" dirty="0">
                <a:latin typeface="Inter" panose="020B0604020202020204" charset="0"/>
                <a:ea typeface="Inter" panose="020B0604020202020204" charset="0"/>
              </a:rPr>
              <a:t> về mọi chỉ số: Precision, Recall và F1-Score.</a:t>
            </a:r>
            <a:endParaRPr sz="15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So Sánh Hiệu Năng Mô Hình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571500" y="10668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01A88D-B874-F22A-E415-E2717FE03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480" y="1190636"/>
            <a:ext cx="4766827" cy="3035665"/>
          </a:xfrm>
          <a:prstGeom prst="rect">
            <a:avLst/>
          </a:prstGeom>
        </p:spPr>
      </p:pic>
      <p:sp>
        <p:nvSpPr>
          <p:cNvPr id="4" name="Google Shape;179;p18">
            <a:extLst>
              <a:ext uri="{FF2B5EF4-FFF2-40B4-BE49-F238E27FC236}">
                <a16:creationId xmlns:a16="http://schemas.microsoft.com/office/drawing/2014/main" id="{68248F7B-BE92-4BB9-A860-76DDF0BB26C7}"/>
              </a:ext>
            </a:extLst>
          </p:cNvPr>
          <p:cNvSpPr txBox="1"/>
          <p:nvPr/>
        </p:nvSpPr>
        <p:spPr>
          <a:xfrm>
            <a:off x="571500" y="1549299"/>
            <a:ext cx="405075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Biểu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đồ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so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sánh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:</a:t>
            </a:r>
            <a:endParaRPr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8" name="Google Shape;263;p23">
            <a:extLst>
              <a:ext uri="{FF2B5EF4-FFF2-40B4-BE49-F238E27FC236}">
                <a16:creationId xmlns:a16="http://schemas.microsoft.com/office/drawing/2014/main" id="{FAAEB377-EF07-10AF-BA6B-EB532DFF0C99}"/>
              </a:ext>
            </a:extLst>
          </p:cNvPr>
          <p:cNvSpPr txBox="1"/>
          <p:nvPr/>
        </p:nvSpPr>
        <p:spPr>
          <a:xfrm>
            <a:off x="602168" y="2821320"/>
            <a:ext cx="499019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60000"/>
              </a:lnSpc>
            </a:pPr>
            <a:r>
              <a:rPr lang="vi-VN" sz="1500" b="1" dirty="0">
                <a:latin typeface="Inter" panose="020B0604020202020204" charset="0"/>
                <a:ea typeface="Inter" panose="020B0604020202020204" charset="0"/>
              </a:rPr>
              <a:t>Recall (Độ nhạy):</a:t>
            </a:r>
            <a:r>
              <a:rPr lang="vi-VN" sz="1500" dirty="0">
                <a:latin typeface="Inter" panose="020B0604020202020204" charset="0"/>
                <a:ea typeface="Inter" panose="020B0604020202020204" charset="0"/>
              </a:rPr>
              <a:t> Random Forest cao hơn hẳn, đảm bảo không bỏ sót các xe tốt</a:t>
            </a:r>
            <a:endParaRPr sz="15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67B060-D9C2-E850-7A49-50A02FACF8A2}"/>
              </a:ext>
            </a:extLst>
          </p:cNvPr>
          <p:cNvSpPr txBox="1"/>
          <p:nvPr/>
        </p:nvSpPr>
        <p:spPr>
          <a:xfrm>
            <a:off x="571500" y="3672303"/>
            <a:ext cx="49901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500" b="1" dirty="0">
                <a:latin typeface="Inter" panose="020B0604020202020204" charset="0"/>
                <a:ea typeface="Inter" panose="020B0604020202020204" charset="0"/>
              </a:rPr>
              <a:t>F1-Score:</a:t>
            </a:r>
            <a:r>
              <a:rPr lang="vi-VN" sz="1500" dirty="0">
                <a:latin typeface="Inter" panose="020B0604020202020204" charset="0"/>
                <a:ea typeface="Inter" panose="020B0604020202020204" charset="0"/>
              </a:rPr>
              <a:t> Cao và ổn định hơn, chứng tỏ mô hình cân bằng tốt dù dữ liệu lệch.</a:t>
            </a:r>
            <a:endParaRPr lang="en-US" sz="15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" name="Google Shape;179;p18">
            <a:extLst>
              <a:ext uri="{FF2B5EF4-FFF2-40B4-BE49-F238E27FC236}">
                <a16:creationId xmlns:a16="http://schemas.microsoft.com/office/drawing/2014/main" id="{2D837D10-48A0-3AFB-B175-2CDD11A569FD}"/>
              </a:ext>
            </a:extLst>
          </p:cNvPr>
          <p:cNvSpPr txBox="1"/>
          <p:nvPr/>
        </p:nvSpPr>
        <p:spPr>
          <a:xfrm>
            <a:off x="571500" y="4484125"/>
            <a:ext cx="405075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Độ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quan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trọng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đặc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trưng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:</a:t>
            </a:r>
            <a:endParaRPr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" name="Google Shape;263;p23">
            <a:extLst>
              <a:ext uri="{FF2B5EF4-FFF2-40B4-BE49-F238E27FC236}">
                <a16:creationId xmlns:a16="http://schemas.microsoft.com/office/drawing/2014/main" id="{EB30B41B-0544-1139-9BA4-C98DFB0B4C54}"/>
              </a:ext>
            </a:extLst>
          </p:cNvPr>
          <p:cNvSpPr txBox="1"/>
          <p:nvPr/>
        </p:nvSpPr>
        <p:spPr>
          <a:xfrm>
            <a:off x="571501" y="4939368"/>
            <a:ext cx="24123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60000"/>
              </a:lnSpc>
            </a:pP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Top 1: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Độ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an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toàn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(Safety)</a:t>
            </a:r>
            <a:endParaRPr sz="15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" name="Google Shape;263;p23">
            <a:extLst>
              <a:ext uri="{FF2B5EF4-FFF2-40B4-BE49-F238E27FC236}">
                <a16:creationId xmlns:a16="http://schemas.microsoft.com/office/drawing/2014/main" id="{DE06F3D0-44B9-FDAC-D34C-6F322BAF88B0}"/>
              </a:ext>
            </a:extLst>
          </p:cNvPr>
          <p:cNvSpPr txBox="1"/>
          <p:nvPr/>
        </p:nvSpPr>
        <p:spPr>
          <a:xfrm>
            <a:off x="602167" y="5413672"/>
            <a:ext cx="25140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60000"/>
              </a:lnSpc>
            </a:pP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Top 2: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Sức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chứa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(Persons)</a:t>
            </a:r>
            <a:endParaRPr sz="15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" name="Google Shape;263;p23">
            <a:extLst>
              <a:ext uri="{FF2B5EF4-FFF2-40B4-BE49-F238E27FC236}">
                <a16:creationId xmlns:a16="http://schemas.microsoft.com/office/drawing/2014/main" id="{C230487E-3F00-A2EC-9274-AFB5CDFB4D0C}"/>
              </a:ext>
            </a:extLst>
          </p:cNvPr>
          <p:cNvSpPr txBox="1"/>
          <p:nvPr/>
        </p:nvSpPr>
        <p:spPr>
          <a:xfrm>
            <a:off x="602168" y="5887976"/>
            <a:ext cx="23816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60000"/>
              </a:lnSpc>
            </a:pP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Top 3: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Giá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mua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(buying)</a:t>
            </a:r>
            <a:endParaRPr sz="15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B72DB59-1570-F576-62A9-9DA48EE9D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260" y="4479116"/>
            <a:ext cx="3715764" cy="22322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5EC812E-89A2-27D0-40C6-A9D8885016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8813" y="4529848"/>
            <a:ext cx="3570448" cy="2130806"/>
          </a:xfrm>
          <a:prstGeom prst="rect">
            <a:avLst/>
          </a:prstGeom>
        </p:spPr>
      </p:pic>
      <p:sp>
        <p:nvSpPr>
          <p:cNvPr id="26" name="Google Shape;272;p24">
            <a:extLst>
              <a:ext uri="{FF2B5EF4-FFF2-40B4-BE49-F238E27FC236}">
                <a16:creationId xmlns:a16="http://schemas.microsoft.com/office/drawing/2014/main" id="{6199DEEE-91E2-0D54-E977-20B9000FD3AC}"/>
              </a:ext>
            </a:extLst>
          </p:cNvPr>
          <p:cNvSpPr txBox="1"/>
          <p:nvPr/>
        </p:nvSpPr>
        <p:spPr>
          <a:xfrm>
            <a:off x="380011" y="213713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27" name="Google Shape;272;p24">
            <a:extLst>
              <a:ext uri="{FF2B5EF4-FFF2-40B4-BE49-F238E27FC236}">
                <a16:creationId xmlns:a16="http://schemas.microsoft.com/office/drawing/2014/main" id="{D675C3B9-44E7-F098-FDD2-2DE350B44DFB}"/>
              </a:ext>
            </a:extLst>
          </p:cNvPr>
          <p:cNvSpPr txBox="1"/>
          <p:nvPr/>
        </p:nvSpPr>
        <p:spPr>
          <a:xfrm>
            <a:off x="380011" y="288585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28" name="Google Shape;272;p24">
            <a:extLst>
              <a:ext uri="{FF2B5EF4-FFF2-40B4-BE49-F238E27FC236}">
                <a16:creationId xmlns:a16="http://schemas.microsoft.com/office/drawing/2014/main" id="{0331BC7B-A18F-29AA-4F35-EDB58828D295}"/>
              </a:ext>
            </a:extLst>
          </p:cNvPr>
          <p:cNvSpPr txBox="1"/>
          <p:nvPr/>
        </p:nvSpPr>
        <p:spPr>
          <a:xfrm>
            <a:off x="380011" y="3667349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29" name="Google Shape;272;p24">
            <a:extLst>
              <a:ext uri="{FF2B5EF4-FFF2-40B4-BE49-F238E27FC236}">
                <a16:creationId xmlns:a16="http://schemas.microsoft.com/office/drawing/2014/main" id="{8C549C31-21A8-6B67-8376-4419FC06F01C}"/>
              </a:ext>
            </a:extLst>
          </p:cNvPr>
          <p:cNvSpPr txBox="1"/>
          <p:nvPr/>
        </p:nvSpPr>
        <p:spPr>
          <a:xfrm>
            <a:off x="402739" y="50039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30" name="Google Shape;272;p24">
            <a:extLst>
              <a:ext uri="{FF2B5EF4-FFF2-40B4-BE49-F238E27FC236}">
                <a16:creationId xmlns:a16="http://schemas.microsoft.com/office/drawing/2014/main" id="{2E8241AC-422C-A075-F1C8-A413D000C3EA}"/>
              </a:ext>
            </a:extLst>
          </p:cNvPr>
          <p:cNvSpPr txBox="1"/>
          <p:nvPr/>
        </p:nvSpPr>
        <p:spPr>
          <a:xfrm>
            <a:off x="402739" y="547820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31" name="Google Shape;272;p24">
            <a:extLst>
              <a:ext uri="{FF2B5EF4-FFF2-40B4-BE49-F238E27FC236}">
                <a16:creationId xmlns:a16="http://schemas.microsoft.com/office/drawing/2014/main" id="{5688269C-35ED-B2E2-5306-2E1C1317D4FA}"/>
              </a:ext>
            </a:extLst>
          </p:cNvPr>
          <p:cNvSpPr txBox="1"/>
          <p:nvPr/>
        </p:nvSpPr>
        <p:spPr>
          <a:xfrm>
            <a:off x="402739" y="5952508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6043612" y="228838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273" name="Google Shape;273;p24"/>
          <p:cNvSpPr txBox="1"/>
          <p:nvPr/>
        </p:nvSpPr>
        <p:spPr>
          <a:xfrm>
            <a:off x="6148387" y="2183130"/>
            <a:ext cx="5048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Xây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dựng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hoàn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chỉnh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quy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trình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KĐ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từ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tiền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xử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lý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đến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đánh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giá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6043612" y="320159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275" name="Google Shape;275;p24"/>
          <p:cNvSpPr txBox="1"/>
          <p:nvPr/>
        </p:nvSpPr>
        <p:spPr>
          <a:xfrm>
            <a:off x="6148387" y="3114185"/>
            <a:ext cx="5048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vi-VN" sz="1500" dirty="0">
                <a:latin typeface="Inter" panose="020B0604020202020204" charset="0"/>
                <a:ea typeface="Inter" panose="020B0604020202020204" charset="0"/>
              </a:rPr>
              <a:t>Chứng minh </a:t>
            </a:r>
            <a:r>
              <a:rPr lang="vi-VN" sz="1500" b="1" dirty="0">
                <a:latin typeface="Inter" panose="020B0604020202020204" charset="0"/>
                <a:ea typeface="Inter" panose="020B0604020202020204" charset="0"/>
              </a:rPr>
              <a:t>Random Forest tối ưu hơn Decision Tree</a:t>
            </a:r>
            <a:r>
              <a:rPr lang="vi-VN" sz="1500" dirty="0">
                <a:latin typeface="Inter" panose="020B0604020202020204" charset="0"/>
                <a:ea typeface="Inter" panose="020B0604020202020204" charset="0"/>
              </a:rPr>
              <a:t> cho bài toán này</a:t>
            </a:r>
            <a:endParaRPr sz="15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6073378" y="404762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277" name="Google Shape;277;p24"/>
          <p:cNvSpPr txBox="1"/>
          <p:nvPr/>
        </p:nvSpPr>
        <p:spPr>
          <a:xfrm>
            <a:off x="6148387" y="3966211"/>
            <a:ext cx="5048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vi-VN" sz="1500" dirty="0">
                <a:latin typeface="Inter" panose="020B0604020202020204" charset="0"/>
                <a:ea typeface="Inter" panose="020B0604020202020204" charset="0"/>
              </a:rPr>
              <a:t>Xác định được "Độ an toàn" là yếu tố cốt lõi chi phối đánh giá xe.</a:t>
            </a:r>
            <a:endParaRPr sz="15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Kết Luận</a:t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571500" y="10668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0739B9A-D277-4BCA-78D3-675A554A3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641" y="2458281"/>
            <a:ext cx="5286375" cy="286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79;p18">
            <a:extLst>
              <a:ext uri="{FF2B5EF4-FFF2-40B4-BE49-F238E27FC236}">
                <a16:creationId xmlns:a16="http://schemas.microsoft.com/office/drawing/2014/main" id="{389B6C5E-830C-E6A0-5477-699D9DA4A7C5}"/>
              </a:ext>
            </a:extLst>
          </p:cNvPr>
          <p:cNvSpPr txBox="1"/>
          <p:nvPr/>
        </p:nvSpPr>
        <p:spPr>
          <a:xfrm>
            <a:off x="6069807" y="1688262"/>
            <a:ext cx="55506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Thành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công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:</a:t>
            </a:r>
            <a:endParaRPr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3" name="Google Shape;179;p18">
            <a:extLst>
              <a:ext uri="{FF2B5EF4-FFF2-40B4-BE49-F238E27FC236}">
                <a16:creationId xmlns:a16="http://schemas.microsoft.com/office/drawing/2014/main" id="{07DE34E9-5342-70C5-D885-9E1C08040620}"/>
              </a:ext>
            </a:extLst>
          </p:cNvPr>
          <p:cNvSpPr txBox="1"/>
          <p:nvPr/>
        </p:nvSpPr>
        <p:spPr>
          <a:xfrm>
            <a:off x="6178153" y="4893650"/>
            <a:ext cx="55506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Hạn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chế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:</a:t>
            </a:r>
            <a:endParaRPr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4" name="Google Shape;275;p24">
            <a:extLst>
              <a:ext uri="{FF2B5EF4-FFF2-40B4-BE49-F238E27FC236}">
                <a16:creationId xmlns:a16="http://schemas.microsoft.com/office/drawing/2014/main" id="{A018D0F2-0D98-DC2A-32DF-76456D97FF4A}"/>
              </a:ext>
            </a:extLst>
          </p:cNvPr>
          <p:cNvSpPr txBox="1"/>
          <p:nvPr/>
        </p:nvSpPr>
        <p:spPr>
          <a:xfrm>
            <a:off x="6148387" y="5246105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Dữ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liệu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ít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(1728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dòng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)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và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mất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cân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500" dirty="0" err="1">
                <a:latin typeface="Inter" panose="020B0604020202020204" charset="0"/>
                <a:ea typeface="Inter" panose="020B0604020202020204" charset="0"/>
              </a:rPr>
              <a:t>bằng</a:t>
            </a:r>
            <a:r>
              <a:rPr lang="en-US" sz="1500" dirty="0">
                <a:latin typeface="Inter" panose="020B0604020202020204" charset="0"/>
                <a:ea typeface="Inter" panose="020B0604020202020204" charset="0"/>
              </a:rPr>
              <a:t>.</a:t>
            </a:r>
            <a:endParaRPr sz="15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" name="Google Shape;275;p24">
            <a:extLst>
              <a:ext uri="{FF2B5EF4-FFF2-40B4-BE49-F238E27FC236}">
                <a16:creationId xmlns:a16="http://schemas.microsoft.com/office/drawing/2014/main" id="{F2DCC384-C425-08A7-6D1F-B44E3B94A09E}"/>
              </a:ext>
            </a:extLst>
          </p:cNvPr>
          <p:cNvSpPr txBox="1"/>
          <p:nvPr/>
        </p:nvSpPr>
        <p:spPr>
          <a:xfrm>
            <a:off x="6178153" y="5727275"/>
            <a:ext cx="5048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vi-VN" sz="1500" dirty="0">
                <a:latin typeface="Inter" panose="020B0604020202020204" charset="0"/>
                <a:ea typeface="Inter" panose="020B0604020202020204" charset="0"/>
              </a:rPr>
              <a:t>Mã hóa khoảng cách đều (0, 1, 2...) có thể chưa phản ánh đúng tâm lý khách hàng.</a:t>
            </a:r>
            <a:endParaRPr sz="15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6" name="Google Shape;276;p24">
            <a:extLst>
              <a:ext uri="{FF2B5EF4-FFF2-40B4-BE49-F238E27FC236}">
                <a16:creationId xmlns:a16="http://schemas.microsoft.com/office/drawing/2014/main" id="{0835A63E-A473-98FC-B25E-8C6F4569B4AC}"/>
              </a:ext>
            </a:extLst>
          </p:cNvPr>
          <p:cNvSpPr txBox="1"/>
          <p:nvPr/>
        </p:nvSpPr>
        <p:spPr>
          <a:xfrm>
            <a:off x="6043612" y="5325306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7" name="Google Shape;276;p24">
            <a:extLst>
              <a:ext uri="{FF2B5EF4-FFF2-40B4-BE49-F238E27FC236}">
                <a16:creationId xmlns:a16="http://schemas.microsoft.com/office/drawing/2014/main" id="{38F5FC7A-3ADD-0A36-9A96-53C1FAF0CF33}"/>
              </a:ext>
            </a:extLst>
          </p:cNvPr>
          <p:cNvSpPr txBox="1"/>
          <p:nvPr/>
        </p:nvSpPr>
        <p:spPr>
          <a:xfrm>
            <a:off x="6043612" y="585186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71712"/>
            <a:ext cx="3492549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71712"/>
            <a:ext cx="3492549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71712"/>
            <a:ext cx="3492549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784223" y="3309937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Cân Bằng Dữ Liệu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857250" y="384333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Sử dụng SMOTE hoặc ADASYN để sinh thêm mẫu cho các lớp thiểu số (Good/VGood).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4562523" y="3309937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Tối Ưu Hóa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4635549" y="384333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Sử dụng GridSearchCV hoặc Bayesian Optimization để tìm bộ tham số tốt nhất.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8340822" y="3309937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Triển Khai Ứng Dụng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8413849" y="3843337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Xây dựng Web App (Streamlit) cho phép người dùng nhập thông số và nhận tư vấn mua xe.</a:t>
            </a:r>
            <a:endParaRPr/>
          </a:p>
        </p:txBody>
      </p:sp>
      <p:pic>
        <p:nvPicPr>
          <p:cNvPr id="294" name="Google Shape;294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31950" y="26050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6050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8549" y="26050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Hướng Phát Triển</a:t>
            </a:r>
            <a:endParaRPr/>
          </a:p>
        </p:txBody>
      </p:sp>
      <p:sp>
        <p:nvSpPr>
          <p:cNvPr id="298" name="Google Shape;298;p25"/>
          <p:cNvSpPr/>
          <p:nvPr/>
        </p:nvSpPr>
        <p:spPr>
          <a:xfrm>
            <a:off x="571500" y="1066800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295275" y="2131665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10B981"/>
                </a:solidFill>
                <a:latin typeface="Merriweather"/>
                <a:ea typeface="Merriweather"/>
                <a:cs typeface="Merriweather"/>
                <a:sym typeface="Merriweather"/>
              </a:rPr>
              <a:t>Hỏi</a:t>
            </a:r>
            <a:r>
              <a:rPr lang="en-US" sz="6000" b="1" i="0" u="none" strike="noStrike" cap="none" dirty="0">
                <a:solidFill>
                  <a:srgbClr val="10B981"/>
                </a:solidFill>
                <a:latin typeface="Merriweather"/>
                <a:ea typeface="Merriweather"/>
                <a:cs typeface="Merriweather"/>
                <a:sym typeface="Merriweather"/>
              </a:rPr>
              <a:t> &amp; </a:t>
            </a:r>
            <a:r>
              <a:rPr lang="en-US" sz="6000" b="1" i="0" u="none" strike="noStrike" cap="none" dirty="0" err="1">
                <a:solidFill>
                  <a:srgbClr val="10B981"/>
                </a:solidFill>
                <a:latin typeface="Merriweather"/>
                <a:ea typeface="Merriweather"/>
                <a:cs typeface="Merriweather"/>
                <a:sym typeface="Merriweather"/>
              </a:rPr>
              <a:t>Đáp</a:t>
            </a:r>
            <a:endParaRPr dirty="0"/>
          </a:p>
        </p:txBody>
      </p:sp>
      <p:sp>
        <p:nvSpPr>
          <p:cNvPr id="305" name="Google Shape;305;p26"/>
          <p:cNvSpPr txBox="1"/>
          <p:nvPr/>
        </p:nvSpPr>
        <p:spPr>
          <a:xfrm>
            <a:off x="571500" y="34651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Cảm ơn thầy và các bạn đã lắng nghe!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1044</Words>
  <Application>Microsoft Office PowerPoint</Application>
  <PresentationFormat>Widescreen</PresentationFormat>
  <Paragraphs>137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Inter</vt:lpstr>
      <vt:lpstr>Merriweather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a46956 Bùi Hải Nam</cp:lastModifiedBy>
  <cp:revision>4</cp:revision>
  <dcterms:modified xsi:type="dcterms:W3CDTF">2025-12-24T14:44:10Z</dcterms:modified>
</cp:coreProperties>
</file>